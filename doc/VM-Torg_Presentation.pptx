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Кабинеты_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0" y="0"/>
            <a:ext cx="2286000" cy="5143500"/>
          </a:xfrm>
          <a:prstGeom prst="rect">
            <a:avLst/>
          </a:prstGeom>
          <a:solidFill>
            <a:srgbClr val="2C1810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5" name="Shape 2"/>
          <p:cNvSpPr/>
          <p:nvPr/>
        </p:nvSpPr>
        <p:spPr>
          <a:xfrm>
            <a:off x="5120640" y="1280160"/>
            <a:ext cx="54864" cy="2560320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0" y="1097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ВМ-ТОРГ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0" y="16459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Мебель,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созданная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для вас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0" y="3520440"/>
            <a:ext cx="1828800" cy="27432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0" y="3703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Индивидуальная мебель из натуральных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материалов от белорусского производства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Кабинеты_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274320"/>
            <a:ext cx="4114800" cy="45720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640" y="457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ФИЛОСОФИЯ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Каждый проект —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уникален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1371600" cy="27432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3774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C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продаём серийную мебель. Мы воплощаем мечту каждого клиента через индивидуальное проектирование, ручную работу мастеров и тщательный подбор натуральных материалов.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118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547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Натуральные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361188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86000" y="3547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61188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57600" y="3547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Современные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ПРОИЗВОДСТВЕ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ООО «Мобили Концепт»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Республика Беларусь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из передовых столярных производств Беларуси с собственной базой и сотнями реализованных проектов высокой сложности на территории России.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828800" cy="2011680"/>
          </a:xfrm>
          <a:prstGeom prst="rect">
            <a:avLst/>
          </a:prstGeom>
          <a:solidFill>
            <a:srgbClr val="3C241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651760"/>
            <a:ext cx="1828800" cy="36576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80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9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 опыта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учётом правопреемственности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2651760"/>
            <a:ext cx="1828800" cy="2011680"/>
          </a:xfrm>
          <a:prstGeom prst="rect">
            <a:avLst/>
          </a:prstGeom>
          <a:solidFill>
            <a:srgbClr val="3C241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2651760"/>
            <a:ext cx="1828800" cy="36576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2880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9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2 000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65176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м² производства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собственная база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651760"/>
            <a:ext cx="1828800" cy="2011680"/>
          </a:xfrm>
          <a:prstGeom prst="rect">
            <a:avLst/>
          </a:prstGeom>
          <a:solidFill>
            <a:srgbClr val="3C241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651760"/>
            <a:ext cx="1828800" cy="36576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880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9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75488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высокой квалификации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2651760"/>
            <a:ext cx="1828800" cy="2011680"/>
          </a:xfrm>
          <a:prstGeom prst="rect">
            <a:avLst/>
          </a:prstGeom>
          <a:solidFill>
            <a:srgbClr val="3C241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2651760"/>
            <a:ext cx="1828800" cy="36576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2880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9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8580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проектов в РФ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высокой сложности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МЫ РАБОТАЕМ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идеи до установки —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полное сопровождение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346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Консультация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931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Обсуждаем вашу идею, пространство и пожелания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87452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103120" y="201168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51760" y="219456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3" name="Text 10"/>
          <p:cNvSpPr/>
          <p:nvPr/>
        </p:nvSpPr>
        <p:spPr>
          <a:xfrm>
            <a:off x="26517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8346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9456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Индивидуальный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194560" y="3931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Разрабатываем дизайн под ваше пространство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61188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3840480" y="201168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89120" y="219456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6"/>
          <p:cNvSpPr/>
          <p:nvPr/>
        </p:nvSpPr>
        <p:spPr>
          <a:xfrm>
            <a:off x="43891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8346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93192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931920" y="3931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Изготовление на собственной базе в Беларуси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34924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5577840" y="201168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126480" y="219456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7" name="Text 22"/>
          <p:cNvSpPr/>
          <p:nvPr/>
        </p:nvSpPr>
        <p:spPr>
          <a:xfrm>
            <a:off x="61264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83464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6928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монтаж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669280" y="3931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Профессиональная установка на объекте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08660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7315200" y="201168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863840" y="219456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4" name="Text 28"/>
          <p:cNvSpPr/>
          <p:nvPr/>
        </p:nvSpPr>
        <p:spPr>
          <a:xfrm>
            <a:off x="78638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834640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40664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производителя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7406640" y="3931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гарантия и сервисная поддержка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участвует в каждом этапе — от первой встречи до финальной приёмки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Кабинеты_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9436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0" y="0"/>
            <a:ext cx="914400" cy="5143500"/>
          </a:xfrm>
          <a:prstGeom prst="rect">
            <a:avLst/>
          </a:prstGeom>
          <a:solidFill>
            <a:srgbClr val="2C1810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486400" y="457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spc="500" kern="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КАБИНЕТЫ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spc="500" kern="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РУКОВОДИТЕЛЕЙ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0" y="11887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Пространство,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которое говорит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 статусе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0" y="2743200"/>
            <a:ext cx="1371600" cy="27432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0" y="2926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Роскошные кабинеты в классическом и современном стилях: панельная отделка стен из массива, резные элементы, мебельные ансамбли с рабочими столами, шкафами и встроенной подсветкой.</a:t>
            </a:r>
            <a:endParaRPr lang="en-US" sz="1000" dirty="0"/>
          </a:p>
        </p:txBody>
      </p:sp>
      <p:pic>
        <p:nvPicPr>
          <p:cNvPr id="9" name="Image 1" descr="/home/claude/Кабинеты_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4023360"/>
            <a:ext cx="1005840" cy="777240"/>
          </a:xfrm>
          <a:prstGeom prst="rect">
            <a:avLst/>
          </a:prstGeom>
        </p:spPr>
      </p:pic>
      <p:pic>
        <p:nvPicPr>
          <p:cNvPr id="10" name="Image 2" descr="/home/claude/Кабинеты_5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0" y="4023360"/>
            <a:ext cx="1005840" cy="777240"/>
          </a:xfrm>
          <a:prstGeom prst="rect">
            <a:avLst/>
          </a:prstGeom>
        </p:spPr>
      </p:pic>
      <p:pic>
        <p:nvPicPr>
          <p:cNvPr id="11" name="Image 3" descr="/home/claude/Кабинеты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80960" y="4023360"/>
            <a:ext cx="10058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ЛЕСТНИЦЫ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вашего дома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27432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C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классических лестниц с деревянными перилами до современных консольных конструкций на больцах со стеклянными ограждениями и LED-подсветкой. Породы: дуб, бук, орех.</a:t>
            </a:r>
            <a:endParaRPr lang="en-US" sz="1200" dirty="0"/>
          </a:p>
        </p:txBody>
      </p:sp>
      <p:pic>
        <p:nvPicPr>
          <p:cNvPr id="6" name="Image 0" descr="/home/claude/Лестницы_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274320"/>
            <a:ext cx="2377440" cy="45720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7" name="Image 1" descr="/home/claude/Лестницы_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274320"/>
            <a:ext cx="2286000" cy="21945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8" name="Image 2" descr="/home/claude/Лестницы_6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0" y="2651760"/>
            <a:ext cx="2286000" cy="21945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9" name="Image 3" descr="/home/claude/Лестницы_2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3383280"/>
            <a:ext cx="914400" cy="822960"/>
          </a:xfrm>
          <a:prstGeom prst="rect">
            <a:avLst/>
          </a:prstGeom>
        </p:spPr>
      </p:pic>
      <p:pic>
        <p:nvPicPr>
          <p:cNvPr id="10" name="Image 4" descr="/home/claude/Лестницы_5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554480" y="3383280"/>
            <a:ext cx="914400" cy="822960"/>
          </a:xfrm>
          <a:prstGeom prst="rect">
            <a:avLst/>
          </a:prstGeom>
        </p:spPr>
      </p:pic>
      <p:pic>
        <p:nvPicPr>
          <p:cNvPr id="11" name="Image 5" descr="/home/claude/Лестницы_4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560320" y="3383280"/>
            <a:ext cx="91440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Столы_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2C1810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СТОЛЫ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7315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Переговорные и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конференц-залы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A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Масштабные П-образные и полукруглые конфигурации на 20+ мест, столы с встроенной техникой, мебель для государственных учреждений с инкрустацией и гербовой символикой.</a:t>
            </a:r>
            <a:endParaRPr lang="en-US" sz="1100" dirty="0"/>
          </a:p>
        </p:txBody>
      </p:sp>
      <p:pic>
        <p:nvPicPr>
          <p:cNvPr id="7" name="Image 1" descr="/home/claude/Столы_7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3200400"/>
            <a:ext cx="1600200" cy="164592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pic>
      <p:pic>
        <p:nvPicPr>
          <p:cNvPr id="8" name="Image 2" descr="/home/claude/Столы_5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11680" y="3200400"/>
            <a:ext cx="1600200" cy="164592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pic>
      <p:pic>
        <p:nvPicPr>
          <p:cNvPr id="9" name="Image 3" descr="/home/claude/Столы_8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749040" y="3200400"/>
            <a:ext cx="1600200" cy="164592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pic>
      <p:pic>
        <p:nvPicPr>
          <p:cNvPr id="10" name="Image 4" descr="/home/claude/Столы_14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0" y="3200400"/>
            <a:ext cx="1600200" cy="164592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pic>
      <p:pic>
        <p:nvPicPr>
          <p:cNvPr id="11" name="Image 5" descr="/home/claude/Столы_1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223760" y="3200400"/>
            <a:ext cx="1600200" cy="164592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Рабочие, обеденные,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кухонные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C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Рабочие столы руководителей, обеденные столы для частных резиденций, кухонные островные столешницы в стиле лофт и минимализм. Шпон ценных пород с высокоглянцевой полировкой, массив, камень.</a:t>
            </a:r>
            <a:endParaRPr lang="en-US" sz="1100" dirty="0"/>
          </a:p>
        </p:txBody>
      </p:sp>
      <p:pic>
        <p:nvPicPr>
          <p:cNvPr id="5" name="Image 0" descr="/home/claude/Столы_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274320"/>
            <a:ext cx="4114800" cy="21945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6" name="Image 1" descr="/home/claude/Столы_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2651760"/>
            <a:ext cx="2743200" cy="21945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7" name="Image 2" descr="/home/claude/Столы_10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74720" y="2651760"/>
            <a:ext cx="2743200" cy="21945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8" name="Image 3" descr="/home/claude/Столы_9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0800" y="2651760"/>
            <a:ext cx="2468880" cy="21945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914400" cy="5143500"/>
          </a:xfrm>
          <a:prstGeom prst="rect">
            <a:avLst/>
          </a:prstGeom>
          <a:solidFill>
            <a:srgbClr val="2C1810">
              <a:alpha val="50000"/>
            </a:srgbClr>
          </a:solidFill>
          <a:ln/>
        </p:spPr>
      </p:sp>
      <p:pic>
        <p:nvPicPr>
          <p:cNvPr id="4" name="Image 0" descr="/home/claude/Шкафы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4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457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spc="500" kern="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ШКАФЫ И СИСТЕМЫ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spc="500" kern="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ХРАНЕНИЯ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60720" y="1097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Порядок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 характером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760720" y="2103120"/>
            <a:ext cx="1371600" cy="27432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0" y="22860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Встроенные и корпусные шкафы, гардеробные системы, книжные шкафы с витринами, TV-тумбы, шкафы-купе с классическими филёнками, встроенные системы хранения у эркерных окон, детская мебель.</a:t>
            </a:r>
            <a:endParaRPr lang="en-US" sz="1100" dirty="0"/>
          </a:p>
        </p:txBody>
      </p:sp>
      <p:pic>
        <p:nvPicPr>
          <p:cNvPr id="9" name="Image 1" descr="/home/claude/Шкафы_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3657600"/>
            <a:ext cx="914400" cy="777240"/>
          </a:xfrm>
          <a:prstGeom prst="rect">
            <a:avLst/>
          </a:prstGeom>
        </p:spPr>
      </p:pic>
      <p:pic>
        <p:nvPicPr>
          <p:cNvPr id="10" name="Image 2" descr="/home/claude/Шкафы_5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66560" y="3657600"/>
            <a:ext cx="914400" cy="777240"/>
          </a:xfrm>
          <a:prstGeom prst="rect">
            <a:avLst/>
          </a:prstGeom>
        </p:spPr>
      </p:pic>
      <p:pic>
        <p:nvPicPr>
          <p:cNvPr id="11" name="Image 3" descr="/home/claude/Шкафы_6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72400" y="3657600"/>
            <a:ext cx="91440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МЯГКАЯ МЕБЕЛЬ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Комфорт, который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чувствуешь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C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Диваны «Честерфилд» из натуральной кожи, кресла с деревянным каркасом и велюровой обивкой, встроенные диванные ниши с деревянными панелями и подсветкой. От классики до современного минимализма.</a:t>
            </a:r>
            <a:endParaRPr lang="en-US" sz="1100" dirty="0"/>
          </a:p>
        </p:txBody>
      </p:sp>
      <p:pic>
        <p:nvPicPr>
          <p:cNvPr id="5" name="Image 0" descr="/home/claude/Мягкая_мебель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274320"/>
            <a:ext cx="4297680" cy="27432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6" name="Image 1" descr="/home/claude/Мягкая_мебель_5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2743200"/>
            <a:ext cx="2560320" cy="21031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7" name="Image 2" descr="/home/claude/Мягкая_мебель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91840" y="3200400"/>
            <a:ext cx="1828800" cy="1645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pic>
        <p:nvPicPr>
          <p:cNvPr id="8" name="Image 3" descr="/home/claude/Мягкая_мебель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3520" y="3200400"/>
            <a:ext cx="3566160" cy="1645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КЛИЕНТЫ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Нам доверяют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мебель украшает государственные учреждения, конференц-залы крупных компаний и частные резиденции по всей России.</a:t>
            </a:r>
            <a:endParaRPr lang="en-US" sz="1200" dirty="0"/>
          </a:p>
        </p:txBody>
      </p:sp>
      <p:pic>
        <p:nvPicPr>
          <p:cNvPr id="5" name="Image 0" descr="/home/claude/Столы_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103120"/>
            <a:ext cx="269748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3749040"/>
            <a:ext cx="2697480" cy="1188720"/>
          </a:xfrm>
          <a:prstGeom prst="rect">
            <a:avLst/>
          </a:prstGeom>
          <a:solidFill>
            <a:srgbClr val="3C2415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3794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Государственные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учреждения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4297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Залы заседаний, кабинеты руководителей с гербовой символикой и инкрустацией</a:t>
            </a:r>
            <a:endParaRPr lang="en-US" sz="900" dirty="0"/>
          </a:p>
        </p:txBody>
      </p:sp>
      <p:pic>
        <p:nvPicPr>
          <p:cNvPr id="9" name="Image 1" descr="/home/claude/Столы_5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6120" y="2103120"/>
            <a:ext cx="2697480" cy="1645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46120" y="3749040"/>
            <a:ext cx="2697480" cy="1188720"/>
          </a:xfrm>
          <a:prstGeom prst="rect">
            <a:avLst/>
          </a:prstGeom>
          <a:solidFill>
            <a:srgbClr val="3C2415"/>
          </a:solidFill>
          <a:ln/>
        </p:spPr>
      </p:sp>
      <p:sp>
        <p:nvSpPr>
          <p:cNvPr id="11" name="Text 7"/>
          <p:cNvSpPr/>
          <p:nvPr/>
        </p:nvSpPr>
        <p:spPr>
          <a:xfrm>
            <a:off x="3383280" y="3794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Коммерческие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83280" y="4297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Конференц-залы, офисы, переговорные комнаты с встроенной техникой</a:t>
            </a:r>
            <a:endParaRPr lang="en-US" sz="900" dirty="0"/>
          </a:p>
        </p:txBody>
      </p:sp>
      <p:pic>
        <p:nvPicPr>
          <p:cNvPr id="13" name="Image 2" descr="/home/claude/Кабинеты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2103120"/>
            <a:ext cx="2697480" cy="16459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26480" y="3749040"/>
            <a:ext cx="2697480" cy="1188720"/>
          </a:xfrm>
          <a:prstGeom prst="rect">
            <a:avLst/>
          </a:prstGeom>
          <a:solidFill>
            <a:srgbClr val="3C2415"/>
          </a:solidFill>
          <a:ln/>
        </p:spPr>
      </p:sp>
      <p:sp>
        <p:nvSpPr>
          <p:cNvPr id="15" name="Text 10"/>
          <p:cNvSpPr/>
          <p:nvPr/>
        </p:nvSpPr>
        <p:spPr>
          <a:xfrm>
            <a:off x="6263640" y="3794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Частные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резиденции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63640" y="4297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Кабинеты, гостиные, кухни, лестницы — полное оснащение дома мечты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Кабинеты_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2004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0" y="365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ГАРАНТИИ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657600" y="731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Мы отвечаем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 результат</a:t>
            </a:r>
            <a:endParaRPr lang="en-US" sz="2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9202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69080" y="1901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гарантия производителя на всю поставляемую мебель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51460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69080" y="2496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Строгое соблюдение согласованных сроков производства и отгрузки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10896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069080" y="3090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Высокое качество продукции — контроль на каждом этапе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70332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069080" y="3685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Своевременное уведомление обо всех изменениях в условиях работы</a:t>
            </a:r>
            <a:endParaRPr lang="en-US" sz="12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297680"/>
            <a:ext cx="274320" cy="2743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069080" y="4279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Полномочия подтверждены доверенностью производителя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Лестницы_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2004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0" y="0"/>
            <a:ext cx="1371600" cy="5143500"/>
          </a:xfrm>
          <a:prstGeom prst="rect">
            <a:avLst/>
          </a:prstGeom>
          <a:solidFill>
            <a:srgbClr val="2C1810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840480" y="914400"/>
            <a:ext cx="54864" cy="3291840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5" name="Text 2"/>
          <p:cNvSpPr/>
          <p:nvPr/>
        </p:nvSpPr>
        <p:spPr>
          <a:xfrm>
            <a:off x="438912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C49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ВМ-ТОРГ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389120" y="11887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Расскажите нам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 вашей идее —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мы воплотим её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дереве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389120" y="3108960"/>
            <a:ext cx="1828800" cy="27432"/>
          </a:xfrm>
          <a:prstGeom prst="rect">
            <a:avLst/>
          </a:prstGeom>
          <a:solidFill>
            <a:srgbClr val="C49A6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338328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(910) 763 99 68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79476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54880" y="3776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vm-torg@mail.ru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420624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5488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г. Смоленск, ул. Николаева, д. 51, офис В13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389120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«ВМ-Торг» — эксклюзивный представитель ООО «Мобили Концепт» в РФ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ВМ-Торг | Мебель, созданная для вас</dc:title>
  <dc:subject>PptxGenJS Presentation</dc:subject>
  <dc:creator>ВМ-Торг</dc:creator>
  <cp:lastModifiedBy>ВМ-Торг</cp:lastModifiedBy>
  <cp:revision>1</cp:revision>
  <dcterms:created xsi:type="dcterms:W3CDTF">2026-02-10T17:16:04Z</dcterms:created>
  <dcterms:modified xsi:type="dcterms:W3CDTF">2026-02-10T17:16:04Z</dcterms:modified>
</cp:coreProperties>
</file>